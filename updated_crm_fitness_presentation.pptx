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5A6A"/>
          </a:solidFill>
          <a:ln w="12700">
            <a:solidFill>
              <a:srgbClr val="0E5A6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F6FAFB"/>
          </a:solidFill>
          <a:ln w="12700">
            <a:solidFill>
              <a:srgbClr val="F6FAFB">
                <a:alpha val="0"/>
              </a:srgbClr>
            </a:solidFill>
            <a:prstDash val="solid"/>
          </a:ln>
        </p:spPr>
      </p:sp>
      <p:pic>
        <p:nvPicPr>
          <p:cNvPr id="4" name="Image 0" descr="/mnt/data/ppt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2580"/>
            <a:ext cx="1188720" cy="726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347472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Государственное бюджетное профессиональное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образовательное учреждение города Москвы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«Колледж малого бизнеса № 4»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" y="1600200"/>
            <a:ext cx="7040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прототипа CRM-платформы для управления клиентским потоком фитнес-клуба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13232" y="3310128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Курсовая работа по ПМ.05 «Проектирование и разработка информационных систем»</a:t>
            </a:r>
            <a:endParaRPr lang="en-US" sz="1500" dirty="0"/>
          </a:p>
        </p:txBody>
      </p:sp>
      <p:pic>
        <p:nvPicPr>
          <p:cNvPr id="8" name="Image 1" descr="/mnt/data/ppt_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1511699"/>
            <a:ext cx="3566160" cy="265502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3232" y="5440680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Работу выполнил: Романов Иван Александрович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 группы ИПО-33.23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Москва, 2026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1475720" y="6419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B"/>
          </a:solidFill>
          <a:ln w="12700">
            <a:solidFill>
              <a:srgbClr val="F6FA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E5A6A"/>
          </a:solidFill>
          <a:ln w="12700">
            <a:solidFill>
              <a:srgbClr val="0E5A6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327648"/>
            <a:ext cx="11548872" cy="18288"/>
          </a:xfrm>
          <a:prstGeom prst="rect">
            <a:avLst/>
          </a:prstGeom>
          <a:solidFill>
            <a:srgbClr val="D7EBF0"/>
          </a:solidFill>
          <a:ln w="12700">
            <a:solidFill>
              <a:srgbClr val="D7EBF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Введение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Цель, объект и предмет исследования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94360" y="1325880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EBF0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6002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5A6A"/>
                </a:solidFill>
              </a:rPr>
              <a:t>Цель работы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20574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01820"/>
                </a:solidFill>
              </a:rPr>
              <a:t>Создать веб-ориентированную CRM-систему, позволяющую централизовать учет абонементов, планировать тренировки и анализировать загрузку тренеров.</a:t>
            </a:r>
            <a:endParaRPr lang="en-US" sz="1720" dirty="0"/>
          </a:p>
        </p:txBody>
      </p:sp>
      <p:sp>
        <p:nvSpPr>
          <p:cNvPr id="10" name="Shape 8"/>
          <p:cNvSpPr/>
          <p:nvPr/>
        </p:nvSpPr>
        <p:spPr>
          <a:xfrm>
            <a:off x="6400800" y="1325880"/>
            <a:ext cx="507492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EBF0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16002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5A6A"/>
                </a:solidFill>
              </a:rPr>
              <a:t>Объект исследования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75120" y="205740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01820"/>
                </a:solidFill>
              </a:rPr>
              <a:t>Методы и технологии автоматизации деятельности фитнес-клубов.</a:t>
            </a:r>
            <a:endParaRPr lang="en-US" sz="1720" dirty="0"/>
          </a:p>
        </p:txBody>
      </p:sp>
      <p:sp>
        <p:nvSpPr>
          <p:cNvPr id="13" name="Shape 11"/>
          <p:cNvSpPr/>
          <p:nvPr/>
        </p:nvSpPr>
        <p:spPr>
          <a:xfrm>
            <a:off x="1417320" y="3886200"/>
            <a:ext cx="9418320" cy="1417320"/>
          </a:xfrm>
          <a:prstGeom prst="roundRect">
            <a:avLst>
              <a:gd name="adj" fmla="val 6452"/>
            </a:avLst>
          </a:prstGeom>
          <a:solidFill>
            <a:srgbClr val="EAF6F8"/>
          </a:solidFill>
          <a:ln w="12700">
            <a:solidFill>
              <a:srgbClr val="D7EBF0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0" y="4160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5A6A"/>
                </a:solidFill>
              </a:rPr>
              <a:t>Предмет исследования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66360" y="4096512"/>
            <a:ext cx="5166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01820"/>
                </a:solidFill>
              </a:rPr>
              <a:t>CRM-платформа для учета абонементов, планирования тренировок и анализа загрузки тренеров.</a:t>
            </a:r>
            <a:endParaRPr lang="en-US" sz="1720" dirty="0"/>
          </a:p>
        </p:txBody>
      </p:sp>
      <p:sp>
        <p:nvSpPr>
          <p:cNvPr id="16" name="Text 14"/>
          <p:cNvSpPr/>
          <p:nvPr/>
        </p:nvSpPr>
        <p:spPr>
          <a:xfrm>
            <a:off x="11475720" y="6419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B"/>
          </a:solidFill>
          <a:ln w="12700">
            <a:solidFill>
              <a:srgbClr val="F6FA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E5A6A"/>
          </a:solidFill>
          <a:ln w="12700">
            <a:solidFill>
              <a:srgbClr val="0E5A6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327648"/>
            <a:ext cx="11548872" cy="18288"/>
          </a:xfrm>
          <a:prstGeom prst="rect">
            <a:avLst/>
          </a:prstGeom>
          <a:solidFill>
            <a:srgbClr val="D7EBF0"/>
          </a:solidFill>
          <a:ln w="12700">
            <a:solidFill>
              <a:srgbClr val="D7EBF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Введение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 курсовой работы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22960" y="1325880"/>
            <a:ext cx="5669280" cy="4434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70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Проанализировать предметную область и традиционные методы учета в фитнес-клубах.</a:t>
            </a:r>
            <a:endParaRPr lang="en-US" sz="1700" dirty="0"/>
          </a:p>
          <a:p>
            <a:r>
              <a:rPr lang="en-US" sz="170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Сравнить существующие CRM-решения и определить их ограничения.</a:t>
            </a:r>
            <a:endParaRPr lang="en-US" sz="1700" dirty="0"/>
          </a:p>
          <a:p>
            <a:r>
              <a:rPr lang="en-US" sz="170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Сформировать функциональные и нефункциональные требования к системе.</a:t>
            </a:r>
            <a:endParaRPr lang="en-US" sz="1700" dirty="0"/>
          </a:p>
          <a:p>
            <a:r>
              <a:rPr lang="en-US" sz="170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Спроектировать структуру базы данных, интерфейс и основные процессы.</a:t>
            </a:r>
            <a:endParaRPr lang="en-US" sz="1700" dirty="0"/>
          </a:p>
          <a:p>
            <a:r>
              <a:rPr lang="en-US" sz="170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модули клиентов, тренировок, отчетов и авторизации.</a:t>
            </a:r>
            <a:endParaRPr lang="en-US" sz="1700" dirty="0"/>
          </a:p>
          <a:p>
            <a:r>
              <a:rPr lang="en-US" sz="170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Провести тестирование прототипа и оценить соответствие требованиям.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995160" y="1325880"/>
            <a:ext cx="443484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7EBF0">
                <a:alpha val="90000"/>
              </a:srgbClr>
            </a:solidFill>
            <a:prstDash val="solid"/>
          </a:ln>
        </p:spPr>
      </p:sp>
      <p:pic>
        <p:nvPicPr>
          <p:cNvPr id="9" name="Image 0" descr="/mnt/data/ppt_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781950"/>
            <a:ext cx="3749040" cy="279118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269480" y="489204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0E5A6A"/>
                </a:solidFill>
              </a:rPr>
              <a:t>Результат: рабочий прототип CRM для небольшого фитнес-клуба или студии.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1475720" y="6419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B"/>
          </a:solidFill>
          <a:ln w="12700">
            <a:solidFill>
              <a:srgbClr val="F6FA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E5A6A"/>
          </a:solidFill>
          <a:ln w="12700">
            <a:solidFill>
              <a:srgbClr val="0E5A6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327648"/>
            <a:ext cx="11548872" cy="18288"/>
          </a:xfrm>
          <a:prstGeom prst="rect">
            <a:avLst/>
          </a:prstGeom>
          <a:solidFill>
            <a:srgbClr val="D7EBF0"/>
          </a:solidFill>
          <a:ln w="12700">
            <a:solidFill>
              <a:srgbClr val="D7EBF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Постановка задачи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Актуальность темы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5715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01820"/>
                </a:solidFill>
              </a:rPr>
              <a:t>Небольшие фитнес-клубы часто ведут учет клиентов, абонементов и тренировок вручную или через таблицы. При росте клиентского потока это приводит к ошибкам в расписании, потере данных и отсутствию быстрых отчетов для руководства.</a:t>
            </a:r>
            <a:endParaRPr lang="en-US" sz="1820" dirty="0"/>
          </a:p>
        </p:txBody>
      </p:sp>
      <p:sp>
        <p:nvSpPr>
          <p:cNvPr id="8" name="Shape 6"/>
          <p:cNvSpPr/>
          <p:nvPr/>
        </p:nvSpPr>
        <p:spPr>
          <a:xfrm>
            <a:off x="685800" y="2926080"/>
            <a:ext cx="26060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7EBF0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30358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5A6A"/>
                </a:solidFill>
              </a:rPr>
              <a:t>Клиентская база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50392" y="331012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57C"/>
                </a:solidFill>
              </a:rPr>
              <a:t>разрозненные файлы и журналы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3657600" y="2926080"/>
            <a:ext cx="26060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7EBF0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22192" y="30358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5A6A"/>
                </a:solidFill>
              </a:rPr>
              <a:t>Абонементы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822192" y="331012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57C"/>
                </a:solidFill>
              </a:rPr>
              <a:t>сложно контролировать сроки и остаток занятий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85800" y="4114800"/>
            <a:ext cx="26060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7EBF0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42245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5A6A"/>
                </a:solidFill>
              </a:rPr>
              <a:t>Расписание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50392" y="449884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57C"/>
                </a:solidFill>
              </a:rPr>
              <a:t>накладки по времени и занятости тренера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3657600" y="4114800"/>
            <a:ext cx="26060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7EBF0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22192" y="42245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5A6A"/>
                </a:solidFill>
              </a:rPr>
              <a:t>Отчеты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822192" y="449884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57C"/>
                </a:solidFill>
              </a:rPr>
              <a:t>нет автоматической аналитики</a:t>
            </a:r>
            <a:endParaRPr lang="en-US" sz="1080" dirty="0"/>
          </a:p>
        </p:txBody>
      </p:sp>
      <p:pic>
        <p:nvPicPr>
          <p:cNvPr id="20" name="Image 0" descr="/mnt/data/docx_media/image18.png">    </p:cNvPr>
          <p:cNvPicPr>
            <a:picLocks noChangeAspect="1"/>
          </p:cNvPicPr>
          <p:nvPr/>
        </p:nvPicPr>
        <p:blipFill>
          <a:blip r:embed="rId1"/>
          <a:srcRect l="0" r="42658" t="0" b="32000"/>
          <a:stretch/>
        </p:blipFill>
        <p:spPr>
          <a:xfrm>
            <a:off x="6995160" y="1261872"/>
            <a:ext cx="4389120" cy="2148840"/>
          </a:xfrm>
          <a:prstGeom prst="rect">
            <a:avLst/>
          </a:prstGeom>
        </p:spPr>
      </p:pic>
      <p:pic>
        <p:nvPicPr>
          <p:cNvPr id="21" name="Image 1" descr="/mnt/data/docx_media/image24.png">    </p:cNvPr>
          <p:cNvPicPr>
            <a:picLocks noChangeAspect="1"/>
          </p:cNvPicPr>
          <p:nvPr/>
        </p:nvPicPr>
        <p:blipFill>
          <a:blip r:embed="rId2"/>
          <a:srcRect l="0" r="57139" t="0" b="22000"/>
          <a:stretch/>
        </p:blipFill>
        <p:spPr>
          <a:xfrm>
            <a:off x="6995160" y="3730752"/>
            <a:ext cx="4389120" cy="1783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1475720" y="6419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B"/>
          </a:solidFill>
          <a:ln w="12700">
            <a:solidFill>
              <a:srgbClr val="F6FA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E5A6A"/>
          </a:solidFill>
          <a:ln w="12700">
            <a:solidFill>
              <a:srgbClr val="0E5A6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327648"/>
            <a:ext cx="11548872" cy="18288"/>
          </a:xfrm>
          <a:prstGeom prst="rect">
            <a:avLst/>
          </a:prstGeom>
          <a:solidFill>
            <a:srgbClr val="D7EBF0"/>
          </a:solidFill>
          <a:ln w="12700">
            <a:solidFill>
              <a:srgbClr val="D7EBF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предметной области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Проблемы традиционного учета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822960" y="1481328"/>
            <a:ext cx="3154680" cy="329184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7EB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682496"/>
            <a:ext cx="384048" cy="384048"/>
          </a:xfrm>
          <a:prstGeom prst="rect">
            <a:avLst/>
          </a:prstGeom>
          <a:solidFill>
            <a:srgbClr val="0E5A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81328" y="169164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E5A6A"/>
                </a:solidFill>
              </a:rPr>
              <a:t>Бумажные журналы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33172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01820"/>
                </a:solidFill>
              </a:rPr>
              <a:t>Записи теряются, сложно искать данные и получать статистику.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526280" y="1481328"/>
            <a:ext cx="3154680" cy="329184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7EB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1682496"/>
            <a:ext cx="384048" cy="384048"/>
          </a:xfrm>
          <a:prstGeom prst="rect">
            <a:avLst/>
          </a:prstGeom>
          <a:solidFill>
            <a:srgbClr val="0E5A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84648" y="169164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E5A6A"/>
                </a:solidFill>
              </a:rPr>
              <a:t>Excel/Google Таблицы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46320" y="233172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01820"/>
                </a:solidFill>
              </a:rPr>
              <a:t>Дублирование информации, ручные исправления и слабая защита данных.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0" y="1481328"/>
            <a:ext cx="3154680" cy="329184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7EB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94192" y="1682496"/>
            <a:ext cx="384048" cy="384048"/>
          </a:xfrm>
          <a:prstGeom prst="rect">
            <a:avLst/>
          </a:prstGeom>
          <a:solidFill>
            <a:srgbClr val="0E5A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887968" y="169164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E5A6A"/>
                </a:solidFill>
              </a:rPr>
              <a:t>Мессенджеры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49640" y="233172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01820"/>
                </a:solidFill>
              </a:rPr>
              <a:t>Заявки приходят из разных каналов, появляются накладки в расписании.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51560" y="525780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323B"/>
                </a:solidFill>
              </a:rPr>
              <a:t>Вывод: нужна единая CRM, которая объединяет учет клиентов, расписание, роли пользователей и отчеты.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475720" y="6419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B"/>
          </a:solidFill>
          <a:ln w="12700">
            <a:solidFill>
              <a:srgbClr val="F6FA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E5A6A"/>
          </a:solidFill>
          <a:ln w="12700">
            <a:solidFill>
              <a:srgbClr val="0E5A6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327648"/>
            <a:ext cx="11548872" cy="18288"/>
          </a:xfrm>
          <a:prstGeom prst="rect">
            <a:avLst/>
          </a:prstGeom>
          <a:solidFill>
            <a:srgbClr val="D7EBF0"/>
          </a:solidFill>
          <a:ln w="12700">
            <a:solidFill>
              <a:srgbClr val="D7EBF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решений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с готовыми CRM-системами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85800" y="1170432"/>
            <a:ext cx="2148840" cy="438912"/>
          </a:xfrm>
          <a:prstGeom prst="rect">
            <a:avLst/>
          </a:prstGeom>
          <a:solidFill>
            <a:srgbClr val="0E5A6A"/>
          </a:solidFill>
          <a:ln w="12700">
            <a:solidFill>
              <a:srgbClr val="D7EB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261872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Критерий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34640" y="1170432"/>
            <a:ext cx="4160520" cy="438912"/>
          </a:xfrm>
          <a:prstGeom prst="rect">
            <a:avLst/>
          </a:prstGeom>
          <a:solidFill>
            <a:srgbClr val="0E5A6A"/>
          </a:solidFill>
          <a:ln w="12700">
            <a:solidFill>
              <a:srgbClr val="D7EB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07792" y="1261872"/>
            <a:ext cx="4014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Типовые решения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995160" y="1170432"/>
            <a:ext cx="4572000" cy="438912"/>
          </a:xfrm>
          <a:prstGeom prst="rect">
            <a:avLst/>
          </a:prstGeom>
          <a:solidFill>
            <a:srgbClr val="0E5A6A"/>
          </a:solidFill>
          <a:ln w="12700">
            <a:solidFill>
              <a:srgbClr val="D7EB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68312" y="1261872"/>
            <a:ext cx="4425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Разработанная CRM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" y="1609344"/>
            <a:ext cx="2148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B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1700784"/>
            <a:ext cx="2002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Пользователи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834640" y="1609344"/>
            <a:ext cx="4160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B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07792" y="1700784"/>
            <a:ext cx="4014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Администратор, тренер, клиент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995160" y="1609344"/>
            <a:ext cx="4572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B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68312" y="1700784"/>
            <a:ext cx="4425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Администратор и тренер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2176272"/>
            <a:ext cx="2148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B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2267712"/>
            <a:ext cx="2002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834640" y="2176272"/>
            <a:ext cx="4160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B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07792" y="2267712"/>
            <a:ext cx="4014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Облако / сервер вендора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995160" y="2176272"/>
            <a:ext cx="4572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B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68312" y="2267712"/>
            <a:ext cx="4425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Локальная БД PostgreSQL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5800" y="2743200"/>
            <a:ext cx="2148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B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2834640"/>
            <a:ext cx="200253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Функции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834640" y="274320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B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07792" y="2834640"/>
            <a:ext cx="401421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Онлайн-запись, рассылки, лояльность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995160" y="2743200"/>
            <a:ext cx="4572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B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68312" y="2834640"/>
            <a:ext cx="44256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Клиенты, абонементы, расписание, отчеты, роли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85800" y="3429000"/>
            <a:ext cx="2148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B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520440"/>
            <a:ext cx="2002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Стоимость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834640" y="3429000"/>
            <a:ext cx="4160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B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07792" y="3520440"/>
            <a:ext cx="4014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Ежемесячная подписка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995160" y="3429000"/>
            <a:ext cx="4572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B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68312" y="3520440"/>
            <a:ext cx="4425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подписки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85800" y="3995928"/>
            <a:ext cx="2148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B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8952" y="4087368"/>
            <a:ext cx="200253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Специфика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834640" y="3995928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B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07792" y="4087368"/>
            <a:ext cx="401421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Требует настройки под клуб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995160" y="3995928"/>
            <a:ext cx="4572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B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68312" y="4087368"/>
            <a:ext cx="44256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1 часа и конфликтов статусов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22960" y="53492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15323B"/>
                </a:solidFill>
              </a:rPr>
              <a:t>Вывод: собственная CRM закрывает базовые задачи клуба без лишней функциональности и постоянной подписки.</a:t>
            </a:r>
            <a:endParaRPr lang="en-US" sz="1850" dirty="0"/>
          </a:p>
        </p:txBody>
      </p:sp>
      <p:sp>
        <p:nvSpPr>
          <p:cNvPr id="44" name="Text 42"/>
          <p:cNvSpPr/>
          <p:nvPr/>
        </p:nvSpPr>
        <p:spPr>
          <a:xfrm>
            <a:off x="11475720" y="6419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B"/>
          </a:solidFill>
          <a:ln w="12700">
            <a:solidFill>
              <a:srgbClr val="F6FA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E5A6A"/>
          </a:solidFill>
          <a:ln w="12700">
            <a:solidFill>
              <a:srgbClr val="0E5A6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327648"/>
            <a:ext cx="11548872" cy="18288"/>
          </a:xfrm>
          <a:prstGeom prst="rect">
            <a:avLst/>
          </a:prstGeom>
          <a:solidFill>
            <a:srgbClr val="D7EBF0"/>
          </a:solidFill>
          <a:ln w="12700">
            <a:solidFill>
              <a:srgbClr val="D7EBF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Требования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Функциональные и нефункциональные требования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868680" y="1234440"/>
            <a:ext cx="1051560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7EBF0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3990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5A6A"/>
                </a:solidFill>
              </a:rPr>
              <a:t>Функциональные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20440" y="1417320"/>
            <a:ext cx="7452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101820"/>
                </a:solidFill>
              </a:rPr>
              <a:t>Вход по логину и паролю; справочники клиентов, тренеров и абонементов; управление расписанием; проверка активного абонемента; контроль интервала 1 час; отчеты и экспорт PDF.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868680" y="2807208"/>
            <a:ext cx="1051560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7EBF0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9718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5A6A"/>
                </a:solidFill>
              </a:rPr>
              <a:t>Нефункциональные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20440" y="2990088"/>
            <a:ext cx="7452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101820"/>
                </a:solidFill>
              </a:rPr>
              <a:t>Отклик API до 500 мс; загрузка страниц до 2 секунд; одновременная работа нескольких пользователей; адаптивный интерфейс; понятные сообщения об ошибках.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868680" y="4379976"/>
            <a:ext cx="1051560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7EBF0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454456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5A6A"/>
                </a:solidFill>
              </a:rPr>
              <a:t>Ограничения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20440" y="4562856"/>
            <a:ext cx="7452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101820"/>
                </a:solidFill>
              </a:rPr>
              <a:t>Веб-приложение на HTML/CSS/JavaScript, Node.js, Express и PostgreSQL; локальный сервер; без онлайн-оплаты, SMS и самостоятельной регистрации клиентов.</a:t>
            </a:r>
            <a:endParaRPr lang="en-US" sz="1430" dirty="0"/>
          </a:p>
        </p:txBody>
      </p:sp>
      <p:sp>
        <p:nvSpPr>
          <p:cNvPr id="16" name="Text 14"/>
          <p:cNvSpPr/>
          <p:nvPr/>
        </p:nvSpPr>
        <p:spPr>
          <a:xfrm>
            <a:off x="11475720" y="6419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B"/>
          </a:solidFill>
          <a:ln w="12700">
            <a:solidFill>
              <a:srgbClr val="F6FA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E5A6A"/>
          </a:solidFill>
          <a:ln w="12700">
            <a:solidFill>
              <a:srgbClr val="0E5A6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327648"/>
            <a:ext cx="11548872" cy="18288"/>
          </a:xfrm>
          <a:prstGeom prst="rect">
            <a:avLst/>
          </a:prstGeom>
          <a:solidFill>
            <a:srgbClr val="D7EBF0"/>
          </a:solidFill>
          <a:ln w="12700">
            <a:solidFill>
              <a:srgbClr val="D7EBF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Проектирование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технологий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85800" y="1261872"/>
            <a:ext cx="32461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7EBF0">
                <a:alpha val="90000"/>
              </a:srgbClr>
            </a:solidFill>
            <a:prstDash val="solid"/>
          </a:ln>
        </p:spPr>
      </p:sp>
      <p:pic>
        <p:nvPicPr>
          <p:cNvPr id="8" name="Image 0" descr="/mnt/data/ppt_media/imag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188" y="1426464"/>
            <a:ext cx="659943" cy="6583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149961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0E5A6A"/>
                </a:solidFill>
              </a:rPr>
              <a:t>Visual Studio Code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828800" y="18745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6757C"/>
                </a:solidFill>
              </a:rPr>
              <a:t>написание и отладка кода</a:t>
            </a:r>
            <a:endParaRPr lang="en-US" sz="1180" dirty="0"/>
          </a:p>
        </p:txBody>
      </p:sp>
      <p:sp>
        <p:nvSpPr>
          <p:cNvPr id="11" name="Shape 8"/>
          <p:cNvSpPr/>
          <p:nvPr/>
        </p:nvSpPr>
        <p:spPr>
          <a:xfrm>
            <a:off x="4480560" y="1261872"/>
            <a:ext cx="32461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7EBF0">
                <a:alpha val="90000"/>
              </a:srgbClr>
            </a:solidFill>
            <a:prstDash val="solid"/>
          </a:ln>
        </p:spPr>
      </p:sp>
      <p:pic>
        <p:nvPicPr>
          <p:cNvPr id="12" name="Image 1" descr="/mnt/data/ppt_media/image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602934"/>
            <a:ext cx="822960" cy="3054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23560" y="149961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0E5A6A"/>
                </a:solidFill>
              </a:rPr>
              <a:t>pgAdmin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5623560" y="18745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6757C"/>
                </a:solidFill>
              </a:rPr>
              <a:t>администрирование PostgreSQL</a:t>
            </a:r>
            <a:endParaRPr lang="en-US" sz="1180" dirty="0"/>
          </a:p>
        </p:txBody>
      </p:sp>
      <p:sp>
        <p:nvSpPr>
          <p:cNvPr id="15" name="Shape 11"/>
          <p:cNvSpPr/>
          <p:nvPr/>
        </p:nvSpPr>
        <p:spPr>
          <a:xfrm>
            <a:off x="8275320" y="1261872"/>
            <a:ext cx="32461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7EBF0">
                <a:alpha val="90000"/>
              </a:srgbClr>
            </a:solidFill>
            <a:prstDash val="solid"/>
          </a:ln>
        </p:spPr>
      </p:sp>
      <p:pic>
        <p:nvPicPr>
          <p:cNvPr id="16" name="Image 2" descr="/mnt/data/ppt_media/image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6242" y="1426464"/>
            <a:ext cx="646875" cy="6583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418320" y="149961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0E5A6A"/>
                </a:solidFill>
              </a:rPr>
              <a:t>HTML5 / CSS3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9418320" y="18745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6757C"/>
                </a:solidFill>
              </a:rPr>
              <a:t>разметка и оформление интерфейса</a:t>
            </a:r>
            <a:endParaRPr lang="en-US" sz="1180" dirty="0"/>
          </a:p>
        </p:txBody>
      </p:sp>
      <p:sp>
        <p:nvSpPr>
          <p:cNvPr id="19" name="Shape 14"/>
          <p:cNvSpPr/>
          <p:nvPr/>
        </p:nvSpPr>
        <p:spPr>
          <a:xfrm>
            <a:off x="685800" y="3319272"/>
            <a:ext cx="32461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7EBF0">
                <a:alpha val="90000"/>
              </a:srgbClr>
            </a:solidFill>
            <a:prstDash val="solid"/>
          </a:ln>
        </p:spPr>
      </p:sp>
      <p:pic>
        <p:nvPicPr>
          <p:cNvPr id="20" name="Image 3" descr="/mnt/data/ppt_media/image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490475"/>
            <a:ext cx="822960" cy="64514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828800" y="355701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0E5A6A"/>
                </a:solidFill>
              </a:rPr>
              <a:t>JavaScript</a:t>
            </a:r>
            <a:endParaRPr lang="en-US" sz="1650" dirty="0"/>
          </a:p>
        </p:txBody>
      </p:sp>
      <p:sp>
        <p:nvSpPr>
          <p:cNvPr id="22" name="Text 16"/>
          <p:cNvSpPr/>
          <p:nvPr/>
        </p:nvSpPr>
        <p:spPr>
          <a:xfrm>
            <a:off x="1828800" y="39319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6757C"/>
                </a:solidFill>
              </a:rPr>
              <a:t>интерактивность и логика клиента</a:t>
            </a:r>
            <a:endParaRPr lang="en-US" sz="1180" dirty="0"/>
          </a:p>
        </p:txBody>
      </p:sp>
      <p:sp>
        <p:nvSpPr>
          <p:cNvPr id="23" name="Shape 17"/>
          <p:cNvSpPr/>
          <p:nvPr/>
        </p:nvSpPr>
        <p:spPr>
          <a:xfrm>
            <a:off x="4480560" y="3319272"/>
            <a:ext cx="32461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7EBF0">
                <a:alpha val="90000"/>
              </a:srgbClr>
            </a:solidFill>
            <a:prstDash val="solid"/>
          </a:ln>
        </p:spPr>
      </p:sp>
      <p:pic>
        <p:nvPicPr>
          <p:cNvPr id="24" name="Image 4" descr="/mnt/data/ppt_media/image1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3624797"/>
            <a:ext cx="822960" cy="376501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623560" y="355701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0E5A6A"/>
                </a:solidFill>
              </a:rPr>
              <a:t>REST API</a:t>
            </a:r>
            <a:endParaRPr lang="en-US" sz="1650" dirty="0"/>
          </a:p>
        </p:txBody>
      </p:sp>
      <p:sp>
        <p:nvSpPr>
          <p:cNvPr id="26" name="Text 19"/>
          <p:cNvSpPr/>
          <p:nvPr/>
        </p:nvSpPr>
        <p:spPr>
          <a:xfrm>
            <a:off x="5623560" y="39319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6757C"/>
                </a:solidFill>
              </a:rPr>
              <a:t>обмен данными в JSON</a:t>
            </a:r>
            <a:endParaRPr lang="en-US" sz="1180" dirty="0"/>
          </a:p>
        </p:txBody>
      </p:sp>
      <p:sp>
        <p:nvSpPr>
          <p:cNvPr id="27" name="Shape 20"/>
          <p:cNvSpPr/>
          <p:nvPr/>
        </p:nvSpPr>
        <p:spPr>
          <a:xfrm>
            <a:off x="8183880" y="3657600"/>
            <a:ext cx="3246120" cy="1417320"/>
          </a:xfrm>
          <a:prstGeom prst="roundRect">
            <a:avLst>
              <a:gd name="adj" fmla="val 6452"/>
            </a:avLst>
          </a:prstGeom>
          <a:solidFill>
            <a:srgbClr val="EAF6F8"/>
          </a:solidFill>
          <a:ln w="12700">
            <a:solidFill>
              <a:srgbClr val="D7EBF0">
                <a:alpha val="90000"/>
              </a:srgbClr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8430768" y="3977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5A6A"/>
                </a:solidFill>
              </a:rPr>
              <a:t>Node.js + Express</a:t>
            </a:r>
            <a:endParaRPr lang="en-US" sz="1800" dirty="0"/>
          </a:p>
        </p:txBody>
      </p:sp>
      <p:sp>
        <p:nvSpPr>
          <p:cNvPr id="29" name="Text 22"/>
          <p:cNvSpPr/>
          <p:nvPr/>
        </p:nvSpPr>
        <p:spPr>
          <a:xfrm>
            <a:off x="8430768" y="4389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57C"/>
                </a:solidFill>
              </a:rPr>
              <a:t>серверная часть и маршруты API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11475720" y="6419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B"/>
          </a:solidFill>
          <a:ln w="12700">
            <a:solidFill>
              <a:srgbClr val="F6FA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E5A6A"/>
          </a:solidFill>
          <a:ln w="12700">
            <a:solidFill>
              <a:srgbClr val="0E5A6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327648"/>
            <a:ext cx="11548872" cy="18288"/>
          </a:xfrm>
          <a:prstGeom prst="rect">
            <a:avLst/>
          </a:prstGeom>
          <a:solidFill>
            <a:srgbClr val="D7EBF0"/>
          </a:solidFill>
          <a:ln w="12700">
            <a:solidFill>
              <a:srgbClr val="D7EBF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Трехуровневая архитектура CRM-системы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868680" y="1828800"/>
            <a:ext cx="292608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7EBF0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" y="2121408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0E5A6A"/>
                </a:solidFill>
              </a:rPr>
              <a:t>Клиентский уровень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79576" y="2788920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01820"/>
                </a:solidFill>
              </a:rPr>
              <a:t>HTML, CSS, JavaScript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01820"/>
                </a:solidFill>
              </a:rPr>
              <a:t>интерфейс администратора и тренера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480560" y="1828800"/>
            <a:ext cx="292608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7EBF0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0016" y="2121408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0E5A6A"/>
                </a:solidFill>
              </a:rPr>
              <a:t>Серверный уровень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791456" y="2788920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01820"/>
                </a:solidFill>
              </a:rPr>
              <a:t>Node.js, Express, REST API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01820"/>
                </a:solidFill>
              </a:rPr>
              <a:t>валидация и бизнес-логика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92440" y="1828800"/>
            <a:ext cx="292608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7EBF0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11896" y="2121408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0E5A6A"/>
                </a:solidFill>
              </a:rPr>
              <a:t>Уровень данных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8403336" y="2788920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01820"/>
                </a:solidFill>
              </a:rPr>
              <a:t>PostgreSQL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01820"/>
                </a:solidFill>
              </a:rPr>
              <a:t>клиенты, тренеры, тренировки, пользователи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822192" y="2633472"/>
            <a:ext cx="502920" cy="594360"/>
          </a:xfrm>
          <a:prstGeom prst="rightArrow">
            <a:avLst/>
          </a:prstGeom>
          <a:solidFill>
            <a:srgbClr val="18758A"/>
          </a:solidFill>
          <a:ln w="12700">
            <a:solidFill>
              <a:srgbClr val="18758A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34072" y="2633472"/>
            <a:ext cx="502920" cy="594360"/>
          </a:xfrm>
          <a:prstGeom prst="rightArrow">
            <a:avLst/>
          </a:prstGeom>
          <a:solidFill>
            <a:srgbClr val="18758A"/>
          </a:solidFill>
          <a:ln w="12700">
            <a:solidFill>
              <a:srgbClr val="18758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4800600"/>
            <a:ext cx="9738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15323B"/>
                </a:solidFill>
              </a:rPr>
              <a:t>Данные передаются через REST API в формате JSON, а сервер выполняет проверки перед обращением к базе данных.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11475720" y="6419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B"/>
          </a:solidFill>
          <a:ln w="12700">
            <a:solidFill>
              <a:srgbClr val="F6FA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E5A6A"/>
          </a:solidFill>
          <a:ln w="12700">
            <a:solidFill>
              <a:srgbClr val="0E5A6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327648"/>
            <a:ext cx="11548872" cy="18288"/>
          </a:xfrm>
          <a:prstGeom prst="rect">
            <a:avLst/>
          </a:prstGeom>
          <a:solidFill>
            <a:srgbClr val="D7EBF0"/>
          </a:solidFill>
          <a:ln w="12700">
            <a:solidFill>
              <a:srgbClr val="D7EBF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Проектирование БД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данных CRM-платформы</a:t>
            </a:r>
            <a:endParaRPr lang="en-US" sz="2500" dirty="0"/>
          </a:p>
        </p:txBody>
      </p:sp>
      <p:pic>
        <p:nvPicPr>
          <p:cNvPr id="7" name="Image 0" descr="/mnt/data/docx_media/image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143000"/>
            <a:ext cx="4800600" cy="4800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29400" y="1508760"/>
            <a:ext cx="470916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62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таблицы: clients, trainers, trainings, users.</a:t>
            </a:r>
            <a:endParaRPr lang="en-US" sz="1620" dirty="0"/>
          </a:p>
          <a:p>
            <a:r>
              <a:rPr lang="en-US" sz="162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Связи «клиент — тренировка» и «тренер — тренировка» реализованы как один ко многим.</a:t>
            </a:r>
            <a:endParaRPr lang="en-US" sz="1620" dirty="0"/>
          </a:p>
          <a:p>
            <a:r>
              <a:rPr lang="en-US" sz="162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Внешние ключи помогают сохранить историю посещений и целостность данных.</a:t>
            </a:r>
            <a:endParaRPr lang="en-US" sz="1620" dirty="0"/>
          </a:p>
          <a:p>
            <a:r>
              <a:rPr lang="en-US" sz="162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Поле status в trainings позволяет различать запланированные, проведенные и отмененные тренировки.</a:t>
            </a:r>
            <a:endParaRPr lang="en-US" sz="1620" dirty="0"/>
          </a:p>
        </p:txBody>
      </p:sp>
      <p:sp>
        <p:nvSpPr>
          <p:cNvPr id="9" name="Text 6"/>
          <p:cNvSpPr/>
          <p:nvPr/>
        </p:nvSpPr>
        <p:spPr>
          <a:xfrm>
            <a:off x="11475720" y="6419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B"/>
          </a:solidFill>
          <a:ln w="12700">
            <a:solidFill>
              <a:srgbClr val="F6FA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E5A6A"/>
          </a:solidFill>
          <a:ln w="12700">
            <a:solidFill>
              <a:srgbClr val="0E5A6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327648"/>
            <a:ext cx="11548872" cy="18288"/>
          </a:xfrm>
          <a:prstGeom prst="rect">
            <a:avLst/>
          </a:prstGeom>
          <a:solidFill>
            <a:srgbClr val="D7EBF0"/>
          </a:solidFill>
          <a:ln w="12700">
            <a:solidFill>
              <a:srgbClr val="D7EBF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и IDEF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Моделирование процессов системы</a:t>
            </a:r>
            <a:endParaRPr lang="en-US" sz="2500" dirty="0"/>
          </a:p>
        </p:txBody>
      </p:sp>
      <p:pic>
        <p:nvPicPr>
          <p:cNvPr id="7" name="Image 0" descr="/mnt/data/docx_media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971" y="1234440"/>
            <a:ext cx="5068298" cy="2148840"/>
          </a:xfrm>
          <a:prstGeom prst="rect">
            <a:avLst/>
          </a:prstGeom>
        </p:spPr>
      </p:pic>
      <p:pic>
        <p:nvPicPr>
          <p:cNvPr id="8" name="Image 1" descr="/mnt/data/docx_media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967666"/>
            <a:ext cx="5303520" cy="1117228"/>
          </a:xfrm>
          <a:prstGeom prst="rect">
            <a:avLst/>
          </a:prstGeom>
        </p:spPr>
      </p:pic>
      <p:pic>
        <p:nvPicPr>
          <p:cNvPr id="9" name="Image 2" descr="/mnt/data/docx_media/image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764" y="1353312"/>
            <a:ext cx="4552713" cy="3886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37960" y="548640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70" b="1" dirty="0">
                <a:solidFill>
                  <a:srgbClr val="0E5A6A"/>
                </a:solidFill>
              </a:rPr>
              <a:t>Диаграммы показывают процесс записи клиента: проверка данных, подбор тренера и времени, контроль занятости, сохранение записи и обработка ошибок.</a:t>
            </a:r>
            <a:endParaRPr lang="en-US" sz="1470" dirty="0"/>
          </a:p>
        </p:txBody>
      </p:sp>
      <p:sp>
        <p:nvSpPr>
          <p:cNvPr id="11" name="Text 6"/>
          <p:cNvSpPr/>
          <p:nvPr/>
        </p:nvSpPr>
        <p:spPr>
          <a:xfrm>
            <a:off x="11475720" y="6419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B"/>
          </a:solidFill>
          <a:ln w="12700">
            <a:solidFill>
              <a:srgbClr val="F6FA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E5A6A"/>
          </a:solidFill>
          <a:ln w="12700">
            <a:solidFill>
              <a:srgbClr val="0E5A6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327648"/>
            <a:ext cx="11548872" cy="18288"/>
          </a:xfrm>
          <a:prstGeom prst="rect">
            <a:avLst/>
          </a:prstGeom>
          <a:solidFill>
            <a:srgbClr val="D7EBF0"/>
          </a:solidFill>
          <a:ln w="12700">
            <a:solidFill>
              <a:srgbClr val="D7EBF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Практическая часть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Реализация базы данных PostgreSQL</a:t>
            </a:r>
            <a:endParaRPr lang="en-US" sz="2500" dirty="0"/>
          </a:p>
        </p:txBody>
      </p:sp>
      <p:pic>
        <p:nvPicPr>
          <p:cNvPr id="7" name="Image 0" descr="/mnt/data/docx_media/image12.png">    </p:cNvPr>
          <p:cNvPicPr>
            <a:picLocks noChangeAspect="1"/>
          </p:cNvPicPr>
          <p:nvPr/>
        </p:nvPicPr>
        <p:blipFill>
          <a:blip r:embed="rId1"/>
          <a:srcRect l="2000" r="-162848" t="2000" b="20000"/>
          <a:stretch/>
        </p:blipFill>
        <p:spPr>
          <a:xfrm>
            <a:off x="594360" y="1143000"/>
            <a:ext cx="5257800" cy="2240280"/>
          </a:xfrm>
          <a:prstGeom prst="rect">
            <a:avLst/>
          </a:prstGeom>
        </p:spPr>
      </p:pic>
      <p:pic>
        <p:nvPicPr>
          <p:cNvPr id="8" name="Image 1" descr="/mnt/data/docx_media/image4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376" y="3675888"/>
            <a:ext cx="2337768" cy="1828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37960" y="1417320"/>
            <a:ext cx="480060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70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Создана база данных fitness_crm.</a:t>
            </a:r>
            <a:endParaRPr lang="en-US" sz="1700" dirty="0"/>
          </a:p>
          <a:p>
            <a:r>
              <a:rPr lang="en-US" sz="170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Реализованы таблицы clients, trainers, trainings и users.</a:t>
            </a:r>
            <a:endParaRPr lang="en-US" sz="1700" dirty="0"/>
          </a:p>
          <a:p>
            <a:r>
              <a:rPr lang="en-US" sz="170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Настроены связи между тренировками, клиентами и тренерами.</a:t>
            </a:r>
            <a:endParaRPr lang="en-US" sz="1700" dirty="0"/>
          </a:p>
          <a:p>
            <a:r>
              <a:rPr lang="en-US" sz="170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Добавлены тестовые данные для проверки работы системы.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1475720" y="6419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B"/>
          </a:solidFill>
          <a:ln w="12700">
            <a:solidFill>
              <a:srgbClr val="F6FA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E5A6A"/>
          </a:solidFill>
          <a:ln w="12700">
            <a:solidFill>
              <a:srgbClr val="0E5A6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327648"/>
            <a:ext cx="11548872" cy="18288"/>
          </a:xfrm>
          <a:prstGeom prst="rect">
            <a:avLst/>
          </a:prstGeom>
          <a:solidFill>
            <a:srgbClr val="D7EBF0"/>
          </a:solidFill>
          <a:ln w="12700">
            <a:solidFill>
              <a:srgbClr val="D7EBF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Практическая часть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управления клиентами</a:t>
            </a:r>
            <a:endParaRPr lang="en-US" sz="2500" dirty="0"/>
          </a:p>
        </p:txBody>
      </p:sp>
      <p:pic>
        <p:nvPicPr>
          <p:cNvPr id="7" name="Image 0" descr="/mnt/data/docx_media/image18.png">    </p:cNvPr>
          <p:cNvPicPr>
            <a:picLocks noChangeAspect="1"/>
          </p:cNvPicPr>
          <p:nvPr/>
        </p:nvPicPr>
        <p:blipFill>
          <a:blip r:embed="rId1"/>
          <a:srcRect l="0" r="29529" t="0" b="32000"/>
          <a:stretch/>
        </p:blipFill>
        <p:spPr>
          <a:xfrm>
            <a:off x="594360" y="1143000"/>
            <a:ext cx="5623560" cy="2240280"/>
          </a:xfrm>
          <a:prstGeom prst="rect">
            <a:avLst/>
          </a:prstGeom>
        </p:spPr>
      </p:pic>
      <p:pic>
        <p:nvPicPr>
          <p:cNvPr id="8" name="Image 1" descr="/mnt/data/docx_media/image2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040" y="3730752"/>
            <a:ext cx="3092200" cy="18745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29400" y="1417320"/>
            <a:ext cx="461772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65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Просмотр списка клиентов и параметров абонемента.</a:t>
            </a:r>
            <a:endParaRPr lang="en-US" sz="1650" dirty="0"/>
          </a:p>
          <a:p>
            <a:r>
              <a:rPr lang="en-US" sz="165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Добавление, редактирование и удаление записей.</a:t>
            </a:r>
            <a:endParaRPr lang="en-US" sz="1650" dirty="0"/>
          </a:p>
          <a:p>
            <a:r>
              <a:rPr lang="en-US" sz="165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ФИО, телефона, даты окончания абонемента и количества посещений.</a:t>
            </a:r>
            <a:endParaRPr lang="en-US" sz="1650" dirty="0"/>
          </a:p>
          <a:p>
            <a:r>
              <a:rPr lang="en-US" sz="165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Блокировка удаления клиента при наличии связанных тренировок.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11475720" y="6419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B"/>
          </a:solidFill>
          <a:ln w="12700">
            <a:solidFill>
              <a:srgbClr val="F6FA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E5A6A"/>
          </a:solidFill>
          <a:ln w="12700">
            <a:solidFill>
              <a:srgbClr val="0E5A6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327648"/>
            <a:ext cx="11548872" cy="18288"/>
          </a:xfrm>
          <a:prstGeom prst="rect">
            <a:avLst/>
          </a:prstGeom>
          <a:solidFill>
            <a:srgbClr val="D7EBF0"/>
          </a:solidFill>
          <a:ln w="12700">
            <a:solidFill>
              <a:srgbClr val="D7EBF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Практическая часть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планирования тренировок</a:t>
            </a:r>
            <a:endParaRPr lang="en-US" sz="2500" dirty="0"/>
          </a:p>
        </p:txBody>
      </p:sp>
      <p:pic>
        <p:nvPicPr>
          <p:cNvPr id="7" name="Image 0" descr="/mnt/data/docx_media/image24.png">    </p:cNvPr>
          <p:cNvPicPr>
            <a:picLocks noChangeAspect="1"/>
          </p:cNvPicPr>
          <p:nvPr/>
        </p:nvPicPr>
        <p:blipFill>
          <a:blip r:embed="rId1"/>
          <a:srcRect l="0" r="53690" t="0" b="22000"/>
          <a:stretch/>
        </p:blipFill>
        <p:spPr>
          <a:xfrm>
            <a:off x="594360" y="1188720"/>
            <a:ext cx="5715000" cy="2148840"/>
          </a:xfrm>
          <a:prstGeom prst="rect">
            <a:avLst/>
          </a:prstGeom>
        </p:spPr>
      </p:pic>
      <p:pic>
        <p:nvPicPr>
          <p:cNvPr id="8" name="Image 1" descr="/mnt/data/docx_media/image2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863674"/>
            <a:ext cx="5166360" cy="15080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29400" y="1417320"/>
            <a:ext cx="461772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65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записи на тренировку с выбором клиента, тренера, даты и времени.</a:t>
            </a:r>
            <a:endParaRPr lang="en-US" sz="1650" dirty="0"/>
          </a:p>
          <a:p>
            <a:r>
              <a:rPr lang="en-US" sz="165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активности абонемента и остатка посещений.</a:t>
            </a:r>
            <a:endParaRPr lang="en-US" sz="1650" dirty="0"/>
          </a:p>
          <a:p>
            <a:r>
              <a:rPr lang="en-US" sz="165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интервала между тренировками одного тренера не менее 1 часа.</a:t>
            </a:r>
            <a:endParaRPr lang="en-US" sz="1650" dirty="0"/>
          </a:p>
          <a:p>
            <a:r>
              <a:rPr lang="en-US" sz="165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Изменение статусов: запланирована, проведена, отменена.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11475720" y="6419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B"/>
          </a:solidFill>
          <a:ln w="12700">
            <a:solidFill>
              <a:srgbClr val="F6FA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E5A6A"/>
          </a:solidFill>
          <a:ln w="12700">
            <a:solidFill>
              <a:srgbClr val="0E5A6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327648"/>
            <a:ext cx="11548872" cy="18288"/>
          </a:xfrm>
          <a:prstGeom prst="rect">
            <a:avLst/>
          </a:prstGeom>
          <a:solidFill>
            <a:srgbClr val="D7EBF0"/>
          </a:solidFill>
          <a:ln w="12700">
            <a:solidFill>
              <a:srgbClr val="D7EBF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Практическая часть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загрузки тренеров</a:t>
            </a:r>
            <a:endParaRPr lang="en-US" sz="2500" dirty="0"/>
          </a:p>
        </p:txBody>
      </p:sp>
      <p:pic>
        <p:nvPicPr>
          <p:cNvPr id="7" name="Image 0" descr="/mnt/data/docx_media/image27.png">    </p:cNvPr>
          <p:cNvPicPr>
            <a:picLocks noChangeAspect="1"/>
          </p:cNvPicPr>
          <p:nvPr/>
        </p:nvPicPr>
        <p:blipFill>
          <a:blip r:embed="rId1"/>
          <a:srcRect l="0" r="36342" t="0" b="10000"/>
          <a:stretch/>
        </p:blipFill>
        <p:spPr>
          <a:xfrm>
            <a:off x="640080" y="1234440"/>
            <a:ext cx="5760720" cy="23774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12280" y="1417320"/>
            <a:ext cx="4343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BF0">
                <a:alpha val="9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086600" y="16642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D78"/>
                </a:solidFill>
              </a:rPr>
              <a:t>Зеленый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366760" y="166420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01820"/>
                </a:solidFill>
              </a:rPr>
              <a:t>высокая загрузка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6812280" y="2651760"/>
            <a:ext cx="4343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BF0">
                <a:alpha val="9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86600" y="289864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33A"/>
                </a:solidFill>
              </a:rPr>
              <a:t>Оранжевый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458200" y="289864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1820"/>
                </a:solidFill>
              </a:rPr>
              <a:t>низкая загрузка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812280" y="3886200"/>
            <a:ext cx="4343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BF0">
                <a:alpha val="9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86600" y="41330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757C"/>
                </a:solidFill>
              </a:rPr>
              <a:t>Серый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366760" y="413308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01820"/>
                </a:solidFill>
              </a:rPr>
              <a:t>занятий нет</a:t>
            </a:r>
            <a:endParaRPr lang="en-US" sz="1320" dirty="0"/>
          </a:p>
        </p:txBody>
      </p:sp>
      <p:sp>
        <p:nvSpPr>
          <p:cNvPr id="17" name="Text 14"/>
          <p:cNvSpPr/>
          <p:nvPr/>
        </p:nvSpPr>
        <p:spPr>
          <a:xfrm>
            <a:off x="914400" y="550468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323B"/>
                </a:solidFill>
              </a:rPr>
              <a:t>Модуль помогает быстро определить текущую занятость каждого тренера.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1475720" y="6419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B"/>
          </a:solidFill>
          <a:ln w="12700">
            <a:solidFill>
              <a:srgbClr val="F6FA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E5A6A"/>
          </a:solidFill>
          <a:ln w="12700">
            <a:solidFill>
              <a:srgbClr val="0E5A6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327648"/>
            <a:ext cx="11548872" cy="18288"/>
          </a:xfrm>
          <a:prstGeom prst="rect">
            <a:avLst/>
          </a:prstGeom>
          <a:solidFill>
            <a:srgbClr val="D7EBF0"/>
          </a:solidFill>
          <a:ln w="12700">
            <a:solidFill>
              <a:srgbClr val="D7EBF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Практическая часть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отчетов</a:t>
            </a:r>
            <a:endParaRPr lang="en-US" sz="2500" dirty="0"/>
          </a:p>
        </p:txBody>
      </p:sp>
      <p:pic>
        <p:nvPicPr>
          <p:cNvPr id="7" name="Image 0" descr="/mnt/data/docx_media/image33.png">    </p:cNvPr>
          <p:cNvPicPr>
            <a:picLocks noChangeAspect="1"/>
          </p:cNvPicPr>
          <p:nvPr/>
        </p:nvPicPr>
        <p:blipFill>
          <a:blip r:embed="rId1"/>
          <a:srcRect l="0" r="2288" t="0" b="32000"/>
          <a:stretch/>
        </p:blipFill>
        <p:spPr>
          <a:xfrm>
            <a:off x="594360" y="1143000"/>
            <a:ext cx="5897880" cy="3337560"/>
          </a:xfrm>
          <a:prstGeom prst="rect">
            <a:avLst/>
          </a:prstGeom>
        </p:spPr>
      </p:pic>
      <p:pic>
        <p:nvPicPr>
          <p:cNvPr id="8" name="Image 1" descr="/mnt/data/docx_media/image3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417320"/>
            <a:ext cx="3291840" cy="2057400"/>
          </a:xfrm>
          <a:prstGeom prst="rect">
            <a:avLst/>
          </a:prstGeom>
        </p:spPr>
      </p:pic>
      <p:pic>
        <p:nvPicPr>
          <p:cNvPr id="9" name="Image 2" descr="/mnt/data/docx_media/image3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4834" y="3767328"/>
            <a:ext cx="3149692" cy="8229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77240" y="4937760"/>
            <a:ext cx="106984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8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Загрузка тренеров, популярность абонементов и посещаемость по дням недели.</a:t>
            </a:r>
            <a:endParaRPr lang="en-US" sz="1480" dirty="0"/>
          </a:p>
          <a:p>
            <a:r>
              <a:rPr lang="en-US" sz="148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Список клиентов с истекающими абонементами.</a:t>
            </a:r>
            <a:endParaRPr lang="en-US" sz="1480" dirty="0"/>
          </a:p>
          <a:p>
            <a:r>
              <a:rPr lang="en-US" sz="148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Финансовый отчет и график продаж.</a:t>
            </a:r>
            <a:endParaRPr lang="en-US" sz="1480" dirty="0"/>
          </a:p>
          <a:p>
            <a:r>
              <a:rPr lang="en-US" sz="148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Экспорт аналитики в PDF.</a:t>
            </a:r>
            <a:endParaRPr lang="en-US" sz="1480" dirty="0"/>
          </a:p>
        </p:txBody>
      </p:sp>
      <p:sp>
        <p:nvSpPr>
          <p:cNvPr id="11" name="Text 6"/>
          <p:cNvSpPr/>
          <p:nvPr/>
        </p:nvSpPr>
        <p:spPr>
          <a:xfrm>
            <a:off x="11475720" y="6419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B"/>
          </a:solidFill>
          <a:ln w="12700">
            <a:solidFill>
              <a:srgbClr val="F6FA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E5A6A"/>
          </a:solidFill>
          <a:ln w="12700">
            <a:solidFill>
              <a:srgbClr val="0E5A6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327648"/>
            <a:ext cx="11548872" cy="18288"/>
          </a:xfrm>
          <a:prstGeom prst="rect">
            <a:avLst/>
          </a:prstGeom>
          <a:solidFill>
            <a:srgbClr val="D7EBF0"/>
          </a:solidFill>
          <a:ln w="12700">
            <a:solidFill>
              <a:srgbClr val="D7EBF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и разграничение прав</a:t>
            </a:r>
            <a:endParaRPr lang="en-US" sz="2500" dirty="0"/>
          </a:p>
        </p:txBody>
      </p:sp>
      <p:pic>
        <p:nvPicPr>
          <p:cNvPr id="7" name="Image 0" descr="/mnt/data/docx_media/image3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02612"/>
            <a:ext cx="3246120" cy="2818337"/>
          </a:xfrm>
          <a:prstGeom prst="rect">
            <a:avLst/>
          </a:prstGeom>
        </p:spPr>
      </p:pic>
      <p:pic>
        <p:nvPicPr>
          <p:cNvPr id="8" name="Image 1" descr="/mnt/data/docx_media/image3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674851"/>
            <a:ext cx="3291840" cy="12588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01000" y="1371600"/>
            <a:ext cx="3429000" cy="3703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54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Параметризованные SQL-запросы для защиты от SQL-инъекций.</a:t>
            </a:r>
            <a:endParaRPr lang="en-US" sz="1540" dirty="0"/>
          </a:p>
          <a:p>
            <a:r>
              <a:rPr lang="en-US" sz="154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Санитизация входных данных и повторная валидация на сервере.</a:t>
            </a:r>
            <a:endParaRPr lang="en-US" sz="1540" dirty="0"/>
          </a:p>
          <a:p>
            <a:r>
              <a:rPr lang="en-US" sz="154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Роли: администратор — полный доступ, пользователь — режим просмотра.</a:t>
            </a:r>
            <a:endParaRPr lang="en-US" sz="1540" dirty="0"/>
          </a:p>
          <a:p>
            <a:r>
              <a:rPr lang="en-US" sz="154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Математическая капча при регистрации и проверка минимальной длины пароля.</a:t>
            </a:r>
            <a:endParaRPr lang="en-US" sz="1540" dirty="0"/>
          </a:p>
        </p:txBody>
      </p:sp>
      <p:sp>
        <p:nvSpPr>
          <p:cNvPr id="10" name="Text 6"/>
          <p:cNvSpPr/>
          <p:nvPr/>
        </p:nvSpPr>
        <p:spPr>
          <a:xfrm>
            <a:off x="11475720" y="6419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B"/>
          </a:solidFill>
          <a:ln w="12700">
            <a:solidFill>
              <a:srgbClr val="F6FA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E5A6A"/>
          </a:solidFill>
          <a:ln w="12700">
            <a:solidFill>
              <a:srgbClr val="0E5A6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327648"/>
            <a:ext cx="11548872" cy="18288"/>
          </a:xfrm>
          <a:prstGeom prst="rect">
            <a:avLst/>
          </a:prstGeom>
          <a:solidFill>
            <a:srgbClr val="D7EBF0"/>
          </a:solidFill>
          <a:ln w="12700">
            <a:solidFill>
              <a:srgbClr val="D7EBF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Уникальность разработанной CRM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85800" y="1261872"/>
            <a:ext cx="32461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EBF0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463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5A6A"/>
                </a:solidFill>
              </a:rPr>
              <a:t>1 час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87552" y="193852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101820"/>
                </a:solidFill>
              </a:rPr>
              <a:t>контроль интервала между тренировками тренера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4480560" y="1261872"/>
            <a:ext cx="32461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EBF0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1463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5A6A"/>
                </a:solidFill>
              </a:rPr>
              <a:t>Абонемент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782312" y="193852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101820"/>
                </a:solidFill>
              </a:rPr>
              <a:t>проверка срока и остатка посещений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8275320" y="1261872"/>
            <a:ext cx="32461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EBF0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76488" y="1463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5A6A"/>
                </a:solidFill>
              </a:rPr>
              <a:t>Конфликты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577072" y="193852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101820"/>
                </a:solidFill>
              </a:rPr>
              <a:t>защита при изменении статусов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685800" y="3227832"/>
            <a:ext cx="32461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EBF0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3429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5A6A"/>
                </a:solidFill>
              </a:rPr>
              <a:t>Локальная БД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987552" y="390448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101820"/>
                </a:solidFill>
              </a:rPr>
              <a:t>PostgreSQL без подписки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4480560" y="3227832"/>
            <a:ext cx="32461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EBF0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1728" y="3429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5A6A"/>
                </a:solidFill>
              </a:rPr>
              <a:t>Отчеты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4782312" y="390448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101820"/>
                </a:solidFill>
              </a:rPr>
              <a:t>аналитика загрузки и продаж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8275320" y="3227832"/>
            <a:ext cx="32461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EBF0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76488" y="3429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5A6A"/>
                </a:solidFill>
              </a:rPr>
              <a:t>Простота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8577072" y="390448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101820"/>
                </a:solidFill>
              </a:rPr>
              <a:t>ориентация на небольшой клуб</a:t>
            </a:r>
            <a:endParaRPr lang="en-US" sz="1280" dirty="0"/>
          </a:p>
        </p:txBody>
      </p:sp>
      <p:sp>
        <p:nvSpPr>
          <p:cNvPr id="25" name="Text 23"/>
          <p:cNvSpPr/>
          <p:nvPr/>
        </p:nvSpPr>
        <p:spPr>
          <a:xfrm>
            <a:off x="914400" y="550468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15323B"/>
                </a:solidFill>
              </a:rPr>
              <a:t>Система не копирует готовые решения, а закрывает конкретные процессы фитнес-клуба.</a:t>
            </a:r>
            <a:endParaRPr lang="en-US" sz="1850" dirty="0"/>
          </a:p>
        </p:txBody>
      </p:sp>
      <p:sp>
        <p:nvSpPr>
          <p:cNvPr id="26" name="Text 24"/>
          <p:cNvSpPr/>
          <p:nvPr/>
        </p:nvSpPr>
        <p:spPr>
          <a:xfrm>
            <a:off x="11475720" y="6419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B"/>
          </a:solidFill>
          <a:ln w="12700">
            <a:solidFill>
              <a:srgbClr val="F6FA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E5A6A"/>
          </a:solidFill>
          <a:ln w="12700">
            <a:solidFill>
              <a:srgbClr val="0E5A6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327648"/>
            <a:ext cx="11548872" cy="18288"/>
          </a:xfrm>
          <a:prstGeom prst="rect">
            <a:avLst/>
          </a:prstGeom>
          <a:solidFill>
            <a:srgbClr val="D7EBF0"/>
          </a:solidFill>
          <a:ln w="12700">
            <a:solidFill>
              <a:srgbClr val="D7EBF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 разработанного прототипа</a:t>
            </a:r>
            <a:endParaRPr lang="en-US" sz="2500" dirty="0"/>
          </a:p>
        </p:txBody>
      </p:sp>
      <p:pic>
        <p:nvPicPr>
          <p:cNvPr id="7" name="Image 0" descr="/mnt/data/docx_media/image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00760"/>
            <a:ext cx="3794760" cy="936041"/>
          </a:xfrm>
          <a:prstGeom prst="rect">
            <a:avLst/>
          </a:prstGeom>
        </p:spPr>
      </p:pic>
      <p:pic>
        <p:nvPicPr>
          <p:cNvPr id="8" name="Image 1" descr="/mnt/data/docx_media/image18.png">    </p:cNvPr>
          <p:cNvPicPr>
            <a:picLocks noChangeAspect="1"/>
          </p:cNvPicPr>
          <p:nvPr/>
        </p:nvPicPr>
        <p:blipFill>
          <a:blip r:embed="rId2"/>
          <a:srcRect l="0" r="22014" t="0" b="34000"/>
          <a:stretch/>
        </p:blipFill>
        <p:spPr>
          <a:xfrm>
            <a:off x="685800" y="2487168"/>
            <a:ext cx="3794760" cy="1325880"/>
          </a:xfrm>
          <a:prstGeom prst="rect">
            <a:avLst/>
          </a:prstGeom>
        </p:spPr>
      </p:pic>
      <p:pic>
        <p:nvPicPr>
          <p:cNvPr id="9" name="Image 2" descr="/mnt/data/docx_media/image24.png">    </p:cNvPr>
          <p:cNvPicPr>
            <a:picLocks noChangeAspect="1"/>
          </p:cNvPicPr>
          <p:nvPr/>
        </p:nvPicPr>
        <p:blipFill>
          <a:blip r:embed="rId3"/>
          <a:srcRect l="0" r="50370" t="0" b="25000"/>
          <a:stretch/>
        </p:blipFill>
        <p:spPr>
          <a:xfrm>
            <a:off x="685800" y="4133088"/>
            <a:ext cx="3794760" cy="12801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074920" y="1325880"/>
            <a:ext cx="6263640" cy="4069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70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Проверен запуск сервера и подключение к базе данных.</a:t>
            </a:r>
            <a:endParaRPr lang="en-US" sz="1700" dirty="0"/>
          </a:p>
          <a:p>
            <a:r>
              <a:rPr lang="en-US" sz="170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Проверена регистрация, авторизация и работа ролей.</a:t>
            </a:r>
            <a:endParaRPr lang="en-US" sz="1700" dirty="0"/>
          </a:p>
          <a:p>
            <a:r>
              <a:rPr lang="en-US" sz="170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Проверены операции с клиентами и тренировками.</a:t>
            </a:r>
            <a:endParaRPr lang="en-US" sz="1700" dirty="0"/>
          </a:p>
          <a:p>
            <a:r>
              <a:rPr lang="en-US" sz="170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Проверена блокировка конфликтов по времени и статусам.</a:t>
            </a:r>
            <a:endParaRPr lang="en-US" sz="1700" dirty="0"/>
          </a:p>
          <a:p>
            <a:r>
              <a:rPr lang="en-US" sz="170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Проверены отчеты и отображение данных из PostgreSQL.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11475720" y="6419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B"/>
          </a:solidFill>
          <a:ln w="12700">
            <a:solidFill>
              <a:srgbClr val="F6FA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E5A6A"/>
          </a:solidFill>
          <a:ln w="12700">
            <a:solidFill>
              <a:srgbClr val="0E5A6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327648"/>
            <a:ext cx="11548872" cy="18288"/>
          </a:xfrm>
          <a:prstGeom prst="rect">
            <a:avLst/>
          </a:prstGeom>
          <a:solidFill>
            <a:srgbClr val="D7EBF0"/>
          </a:solidFill>
          <a:ln w="12700">
            <a:solidFill>
              <a:srgbClr val="D7EBF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Итоги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Заключение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914400" y="12344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5A6A"/>
                </a:solidFill>
              </a:rPr>
              <a:t>В ходе курсовой работы был разработан прототип CRM-платформы для фитнес-клуба.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2148840"/>
            <a:ext cx="996696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82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Реализован учет клиентов, абонементов, тренеров и тренировок.</a:t>
            </a:r>
            <a:endParaRPr lang="en-US" sz="1820" dirty="0"/>
          </a:p>
          <a:p>
            <a:r>
              <a:rPr lang="en-US" sz="182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Добавлена проверка активности абонемента и контроль занятости тренера.</a:t>
            </a:r>
            <a:endParaRPr lang="en-US" sz="1820" dirty="0"/>
          </a:p>
          <a:p>
            <a:r>
              <a:rPr lang="en-US" sz="182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Реализованы отчеты по загрузке, абонементам и продажам с экспортом в PDF.</a:t>
            </a:r>
            <a:endParaRPr lang="en-US" sz="1820" dirty="0"/>
          </a:p>
          <a:p>
            <a:r>
              <a:rPr lang="en-US" sz="182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Настроены авторизация, роли пользователей и базовые меры защиты данных.</a:t>
            </a:r>
            <a:endParaRPr lang="en-US" sz="1820" dirty="0"/>
          </a:p>
          <a:p>
            <a:r>
              <a:rPr lang="en-US" sz="182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Прототип может использоваться как основа для автоматизации небольшого фитнес-клуба.</a:t>
            </a:r>
            <a:endParaRPr lang="en-US" sz="1820" dirty="0"/>
          </a:p>
        </p:txBody>
      </p:sp>
      <p:sp>
        <p:nvSpPr>
          <p:cNvPr id="9" name="Text 7"/>
          <p:cNvSpPr/>
          <p:nvPr/>
        </p:nvSpPr>
        <p:spPr>
          <a:xfrm>
            <a:off x="3246120" y="562356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5323B"/>
                </a:solidFill>
              </a:rPr>
              <a:t>Спасибо за внимание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1475720" y="6419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ГБПОУ КМБ №4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Курсовая работа: CRM-платформа фитнес-клуба</dc:title>
  <dc:subject>Разработка прототипа CRM-платформы для управления клиентским потоком фитнес-клуба</dc:subject>
  <dc:creator>OpenAI</dc:creator>
  <cp:lastModifiedBy>OpenAI</cp:lastModifiedBy>
  <cp:revision>1</cp:revision>
  <dcterms:created xsi:type="dcterms:W3CDTF">2026-04-26T09:10:29Z</dcterms:created>
  <dcterms:modified xsi:type="dcterms:W3CDTF">2026-04-26T09:10:29Z</dcterms:modified>
</cp:coreProperties>
</file>